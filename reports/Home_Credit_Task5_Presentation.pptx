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34948"/>
                </a:solidFill>
                <a:latin typeface="Arial"/>
              </a:rPr>
              <a:t>HOME CREDIT DEFAULT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0B0B"/>
                </a:solidFill>
                <a:latin typeface="Arial"/>
              </a:rPr>
              <a:t>From Risk Prediction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0B0B"/>
                </a:solidFill>
                <a:latin typeface="Arial"/>
              </a:rPr>
              <a:t>to Business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2514E"/>
                </a:solidFill>
                <a:latin typeface="Arial"/>
              </a:rPr>
              <a:t>Approving the right customers, on the right terms, more often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Arial"/>
              </a:rPr>
              <a:t>Rakamin Academy x Home Credit Indonesia — Virtual Internship, Task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Arial"/>
              </a:rPr>
              <a:t>Steven Glecy Haloho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A scoring model has to do two jobs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700">
                <a:solidFill>
                  <a:srgbClr val="0B0B0B"/>
                </a:solidFill>
                <a:latin typeface="Arial"/>
              </a:rPr>
              <a:t>▪ Don't reject good customers.</a:t>
            </a:r>
            <a:r>
              <a:rPr sz="1700">
                <a:solidFill>
                  <a:srgbClr val="52514E"/>
                </a:solidFill>
                <a:latin typeface="Arial"/>
              </a:rPr>
              <a:t> Applicants capable of repaying should not be turned away — every false rejection is lost revenue and a customer Home Credit could have served well.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0B0B0B"/>
                </a:solidFill>
                <a:latin typeface="Arial"/>
              </a:rPr>
              <a:t>▪ Don't approve loans set up to fail.</a:t>
            </a:r>
            <a:r>
              <a:rPr sz="1700">
                <a:solidFill>
                  <a:srgbClr val="52514E"/>
                </a:solidFill>
                <a:latin typeface="Arial"/>
              </a:rPr>
              <a:t> Applicants at genuine risk of default need to be identified early — but the goal is prevention, not just exclusion.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0B0B0B"/>
                </a:solidFill>
                <a:latin typeface="Arial"/>
              </a:rPr>
              <a:t>▪ Structure the loan to help the customer succeed.</a:t>
            </a:r>
            <a:r>
              <a:rPr sz="1700">
                <a:solidFill>
                  <a:srgbClr val="52514E"/>
                </a:solidFill>
                <a:latin typeface="Arial"/>
              </a:rPr>
              <a:t> Principal, tenor, and repayment calendar should match the customer's real risk and cash-flow profile — not a one-size-fits-all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155680" cy="105156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00">
                <a:solidFill>
                  <a:srgbClr val="E34948"/>
                </a:solidFill>
                <a:latin typeface="Arial"/>
              </a:rPr>
              <a:t>Objective: </a:t>
            </a:r>
            <a:r>
              <a:rPr sz="1500">
                <a:solidFill>
                  <a:srgbClr val="0B0B0B"/>
                </a:solidFill>
                <a:latin typeface="Arial"/>
              </a:rPr>
              <a:t>build ≥2 ML models (incl. Logistic Regression) that rank-order default risk well enough to support both accept/reject decisions and risk-based loan structuring — evaluated on ROC-AUC / KS at the model level, and on defaults-avoided vs. good-payers-affected at the business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02 —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One loan record, five behavioral histories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Arial"/>
              </a:rPr>
              <a:t>application_train.csv (main 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307,511 loans, 122 raw columns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TARGET: 1 = defaulted (8.07%), 0 = repaid (91.93%)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Heavily imbalanced — accuracy is not a usable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2A78D6"/>
                </a:solidFill>
                <a:latin typeface="Arial"/>
              </a:rPr>
              <a:t>307,511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loan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429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34948"/>
                </a:solidFill>
                <a:latin typeface="Arial"/>
              </a:rPr>
              <a:t>8.07%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portfolio default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Arial"/>
              </a:rPr>
              <a:t>5 supporting behavioral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28800"/>
            <a:ext cx="5669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50">
                <a:solidFill>
                  <a:srgbClr val="0B0B0B"/>
                </a:solidFill>
                <a:latin typeface="Arial"/>
              </a:rPr>
              <a:t>▪ bureau.csv + bureau_balance.csv</a:t>
            </a:r>
            <a:r>
              <a:rPr sz="1350">
                <a:solidFill>
                  <a:srgbClr val="52514E"/>
                </a:solidFill>
                <a:latin typeface="Arial"/>
              </a:rPr>
              <a:t> — credit history at other institutions (1.7M / 27.3M rows)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B0B0B"/>
                </a:solidFill>
                <a:latin typeface="Arial"/>
              </a:rPr>
              <a:t>▪ previous_application.csv</a:t>
            </a:r>
            <a:r>
              <a:rPr sz="1350">
                <a:solidFill>
                  <a:srgbClr val="52514E"/>
                </a:solidFill>
                <a:latin typeface="Arial"/>
              </a:rPr>
              <a:t> — client's past applications to Home Credit (1.67M rows)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B0B0B"/>
                </a:solidFill>
                <a:latin typeface="Arial"/>
              </a:rPr>
              <a:t>▪ POS_CASH_balance.csv</a:t>
            </a:r>
            <a:r>
              <a:rPr sz="1350">
                <a:solidFill>
                  <a:srgbClr val="52514E"/>
                </a:solidFill>
                <a:latin typeface="Arial"/>
              </a:rPr>
              <a:t> — past point-of-sale / cash loan behavior (10.0M rows)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B0B0B"/>
                </a:solidFill>
                <a:latin typeface="Arial"/>
              </a:rPr>
              <a:t>▪ credit_card_balance.csv</a:t>
            </a:r>
            <a:r>
              <a:rPr sz="1350">
                <a:solidFill>
                  <a:srgbClr val="52514E"/>
                </a:solidFill>
                <a:latin typeface="Arial"/>
              </a:rPr>
              <a:t> — past Home Credit credit card behavior (3.8M rows)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B0B0B"/>
                </a:solidFill>
                <a:latin typeface="Arial"/>
              </a:rPr>
              <a:t>▪ installments_payments.csv</a:t>
            </a:r>
            <a:r>
              <a:rPr sz="1350">
                <a:solidFill>
                  <a:srgbClr val="52514E"/>
                </a:solidFill>
                <a:latin typeface="Arial"/>
              </a:rPr>
              <a:t> — installment-level repayment history (13.6M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2514E"/>
                </a:solidFill>
                <a:latin typeface="Arial"/>
              </a:rPr>
              <a:t>Engineering challenge: ~2.3GB raw, 8 supporting tables → aggregated to one row per client (bureau/previous-application history → SK_ID_CURR) and merged with engineered ratios (credit/income, annuity/income, EXT_SOURCE combinations) into a 307,511 × 196 master feature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03 — TOP INSIGHT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Low-risk segments are under-represented in the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sight_incom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8394"/>
            <a:ext cx="5852160" cy="33440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34948"/>
                </a:solidFill>
                <a:latin typeface="Arial"/>
              </a:rPr>
              <a:t>What the data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State servants: 5.76% default (vs 8.07% avg) — only 7.1% of applicants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Pensioners: 5.39% default, the lowest of all segments — only 18.0% of applicants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Working (private sector): 9.59% default — yet 51.6% of the whole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114800"/>
            <a:ext cx="5120640" cy="182880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400">
                <a:solidFill>
                  <a:srgbClr val="1BAF7A"/>
                </a:solidFill>
                <a:latin typeface="Arial"/>
              </a:rPr>
              <a:t>Action: </a:t>
            </a:r>
            <a:r>
              <a:rPr sz="1400">
                <a:solidFill>
                  <a:srgbClr val="0B0B0B"/>
                </a:solidFill>
                <a:latin typeface="Arial"/>
              </a:rPr>
              <a:t>Run targeted acquisition (partnerships with government/pension-disbursing institutions) toward State servants &amp; Pensioners. This shifts portfolio mix toward lower risk without tightening underwriting on anyone — a volume-and-quality win, not just a rejection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04 — TOP INSIGHT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Bureau score should shape loan terms, not just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sight_ext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17320"/>
            <a:ext cx="52578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34948"/>
                </a:solidFill>
                <a:latin typeface="Arial"/>
              </a:rPr>
              <a:t>What the data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EXT_SOURCE_MEAN bottom quartile: 17.3% default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EXT_SOURCE_MEAN top quartile: 2.7% default — a 6.4x spread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Arial"/>
              </a:rPr>
              <a:t>▪ Confirmed as the single strongest driver in both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429000"/>
            <a:ext cx="5120640" cy="251460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400">
                <a:solidFill>
                  <a:srgbClr val="1BAF7A"/>
                </a:solidFill>
                <a:latin typeface="Arial"/>
              </a:rPr>
              <a:t>Action: </a:t>
            </a:r>
            <a:r>
              <a:rPr sz="1350">
                <a:solidFill>
                  <a:srgbClr val="0B0B0B"/>
                </a:solidFill>
                <a:latin typeface="Arial"/>
              </a:rPr>
              <a:t>Don't use this for a binary cutoff alone. Use the full model score to set risk-tiered principal, tenor, and repayment calendar: top-tier clients get a higher principal ceiling and longer tenor (volume Home Credit is currently leaving on the table); higher-risk clients get a smaller principal, shorter tenor, and more frequent (weekly/bi-weekly) instalments — easier to sustain and a path to a bigger loan next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05 — 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Final models: what features, what preprocessing, what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/>
            <a:r>
              <a:rPr b="1" sz="1600">
                <a:solidFill>
                  <a:srgbClr val="2A78D6"/>
                </a:solidFill>
                <a:latin typeface="Arial"/>
              </a:rPr>
              <a:t>Logistic Regression — baseline / scorecard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Features: 178 numeric + 16 categorical (194 total) — full engineered feature set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Preprocessing: median imputation + standardization (numeric); most-frequent imputation + one-hot encoding (categorical)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Imbalance handling: class_weight = 'balanced'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Tuning: GridSearchCV, 3-fold, scoring = ROC-AUC, over C ∈ {0.01 … 3}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Best C = 0.01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Why keep it: fully transparent coefficients — usable as a regulator-facing scorecard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/>
            <a:r>
              <a:rPr b="1" sz="1600">
                <a:solidFill>
                  <a:srgbClr val="EB6834"/>
                </a:solidFill>
                <a:latin typeface="Arial"/>
              </a:rPr>
              <a:t>LightGBM — recommended production model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Features: same 194-feature set — categoricals used natively, no manual encoding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Preprocessing: none required — native missing-value handling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Imbalance handling: scale_pos_weight = 11.4 (neg/pos ratio)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Tuning: RandomizedSearchCV, 20 candidates x 3-fold, scoring = ROC-AUC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Tuned: num_leaves, learning_rate, min_child_samples, subsample, colsample_bytree, reg_alpha/lambda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B0B0B"/>
                </a:solidFill>
                <a:latin typeface="Arial"/>
              </a:rPr>
              <a:t>▪ Why: captures non-linear interactions (e.g. ORGANIZATION_TYPE x income ratios) a linear model can't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06 —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LightGBM edges out the baseline on both credit-scoring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297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4630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2A78D6"/>
                </a:solidFill>
                <a:latin typeface="Arial"/>
              </a:rPr>
              <a:t>0.772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Logistic Regression — Test 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4630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B6834"/>
                </a:solidFill>
                <a:latin typeface="Arial"/>
              </a:rPr>
              <a:t>0.786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LightGBM — Test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8346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2A78D6"/>
                </a:solidFill>
                <a:latin typeface="Arial"/>
              </a:rPr>
              <a:t>0.409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Logistic Regression — 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83464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B6834"/>
                </a:solidFill>
                <a:latin typeface="Arial"/>
              </a:rPr>
              <a:t>0.437</a:t>
            </a:r>
          </a:p>
          <a:p>
            <a:pPr algn="ctr"/>
            <a:r>
              <a:rPr sz="1200">
                <a:solidFill>
                  <a:srgbClr val="52514E"/>
                </a:solidFill>
                <a:latin typeface="Arial"/>
              </a:rPr>
              <a:t>LightGBM — 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297680"/>
            <a:ext cx="5486400" cy="173736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sz="1300">
                <a:solidFill>
                  <a:srgbClr val="0B0B0B"/>
                </a:solidFill>
                <a:latin typeface="Arial"/>
              </a:rPr>
              <a:t>Both models lean on the same strong engineered features (EXT_SOURCE, CREDIT_TERM, bureau/previous-application aggregates); LightGBM's edge comes from non-linear feature interactions a linear model cannot represent. Recommendation: LightGBM for production scoring, Logistic Regression retained as an interpretable challenger / regulatory fallback.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07 —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Catch most bad debt by declining only the riskiest few 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in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417320"/>
            <a:ext cx="537667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463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34948"/>
                </a:solidFill>
                <a:latin typeface="Arial"/>
              </a:rPr>
              <a:t>Decile gains analysis (LightGBM score)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0B0B0B"/>
                </a:solidFill>
                <a:latin typeface="Arial"/>
              </a:rPr>
              <a:t>▪ Decline riskiest 10%:</a:t>
            </a:r>
            <a:r>
              <a:rPr sz="1400">
                <a:solidFill>
                  <a:srgbClr val="52514E"/>
                </a:solidFill>
                <a:latin typeface="Arial"/>
              </a:rPr>
              <a:t> captures 37.7% of all future defaults, affects only 7.6% of good payers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B0B0B"/>
                </a:solidFill>
                <a:latin typeface="Arial"/>
              </a:rPr>
              <a:t>▪ Decline riskiest 20%:</a:t>
            </a:r>
            <a:r>
              <a:rPr sz="1400">
                <a:solidFill>
                  <a:srgbClr val="52514E"/>
                </a:solidFill>
                <a:latin typeface="Arial"/>
              </a:rPr>
              <a:t> captures 57.1% of defaults, affects 16.7% of good payers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B0B0B"/>
                </a:solidFill>
                <a:latin typeface="Arial"/>
              </a:rPr>
              <a:t>▪ Beyond ~decile 3-4:</a:t>
            </a:r>
            <a:r>
              <a:rPr sz="1400">
                <a:solidFill>
                  <a:srgbClr val="52514E"/>
                </a:solidFill>
                <a:latin typeface="Arial"/>
              </a:rPr>
              <a:t> the trade-off worsens fast — remaining pool is genuinely low-risk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480560"/>
            <a:ext cx="5394960" cy="173736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400">
                <a:solidFill>
                  <a:srgbClr val="1BAF7A"/>
                </a:solidFill>
                <a:latin typeface="Arial"/>
              </a:rPr>
              <a:t>Recommendation: </a:t>
            </a:r>
            <a:r>
              <a:rPr sz="1300">
                <a:solidFill>
                  <a:srgbClr val="0B0B0B"/>
                </a:solidFill>
                <a:latin typeface="Arial"/>
              </a:rPr>
              <a:t>decline (or route to a smaller/secured starter product) only the top 1-2 riskiest score deciles, where the ratio of defaults-avoided to good-payers-affected is most favorable (~5:1 and ~3.4:1). This is how the model directly serves the brief's goal: cut bad debt without mass-rejecting creditworthy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08 — BUSINESS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Translate the score into risk-tiered loan terms, not one cutoff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2286000"/>
                <a:gridCol w="1005840"/>
                <a:gridCol w="13716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Risk Tier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Score decile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Default rate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Principal ceiling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Max tenor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Down payment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Repayment calendar</a:t>
                      </a:r>
                    </a:p>
                  </a:txBody>
                  <a:tcPr marL="73152" marR="73152" anchor="ctr">
                    <a:solidFill>
                      <a:srgbClr val="0B0B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1 — Low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9–10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~1–2%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Up to 5x income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36–48 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Standard monthly, fast-track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2 — Medium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5–8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~3–7%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Up to 4x income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24–36 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10–20%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Standard monthly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3 — Elevated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3–4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~7–10%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Up to 3x income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12–24 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20–30%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Bi-weekly instalments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4 — High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1–2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&gt; 15%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Up to 2x income (starter/secured)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6–12 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30%+ / guarantor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Arial"/>
                        </a:rPr>
                        <a:t>Weekly; graduate after clean history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2514E"/>
                </a:solidFill>
                <a:latin typeface="Arial"/>
              </a:rPr>
              <a:t>Fairness note: CODE_GENDER shows a real gap in the data (Male 10.1% vs Female 7.0% default) but is excluded as a scoring/pricing lever — the underlying risk is already captured through income stability, external bureau score, and employment type. A correlate is not automatically a 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Arial"/>
              </a:rPr>
              <a:t>Next steps: validate on an out-of-time sample (not just a random holdout), add reject-inference for the declined population (models are trained only on historically-approved customers), and A/B test the repayment-calendar policy against the current flat policy before full rollout.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Arial"/>
              </a:rPr>
              <a:t>09 — REFERENCES &amp;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Full analysis, code, and reproducible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1188720"/>
          </a:xfrm>
          <a:prstGeom prst="roundRect">
            <a:avLst/>
          </a:prstGeom>
          <a:solidFill>
            <a:srgbClr val="EE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b="1" sz="1600">
                <a:solidFill>
                  <a:srgbClr val="E34948"/>
                </a:solidFill>
                <a:latin typeface="Arial"/>
              </a:rPr>
              <a:t>GitHub repository: </a:t>
            </a:r>
            <a:r>
              <a:rPr sz="1600">
                <a:solidFill>
                  <a:srgbClr val="0B0B0B"/>
                </a:solidFill>
                <a:latin typeface="Arial"/>
              </a:rPr>
              <a:t>github.com/glecyhaloho/home-credit-default-risk-scoring</a:t>
            </a:r>
          </a:p>
          <a:p>
            <a:r>
              <a:rPr sz="1300">
                <a:solidFill>
                  <a:srgbClr val="52514E"/>
                </a:solidFill>
                <a:latin typeface="Arial"/>
              </a:rPr>
              <a:t>Contains the full executed notebook (.ipynb), feature-engineering &amp; training source code, and saved model artifacts.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Arial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Arial"/>
              </a:rPr>
              <a:t>▪ Kaggle — "Home Credit Default Risk" competition dataset &amp; problem description (source of application_{train,test}, bureau, previous_application, POS_CASH_balance, credit_card_balance, installments_payments tables)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Arial"/>
              </a:rPr>
              <a:t>▪ Rakamin Academy x Home Credit Indonesia — Virtual Internship Task 5 brief: Dataset Description &amp; PPT guidelines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Arial"/>
              </a:rPr>
              <a:t>▪ scikit-learn documentation — Logistic Regression, GridSearchCV, ColumnTransformer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Arial"/>
              </a:rPr>
              <a:t>▪ LightGBM documentation — gradient boosting framework, categorical feature handling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Arial"/>
              </a:rPr>
              <a:t>▪ Standard credit-scoring practice — KS statistic, decile/gains-table analysis for accept/reject policy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Home Credit Default Risk — Rakamin x Home Credit Indonesia Virtual Internship, Task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14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